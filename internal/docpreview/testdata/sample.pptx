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11247120" cy="914400"/>
          </a:xfrm>
        </p:spPr>
        <p:txBody>
          <a:bodyPr/>
          <a:lstStyle/>
          <a:p>
            <a:r>
              <a:t>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10"/>
              <p:cNvSpPr txBox="1"/>
              <p:nvPr/>
            </p:nvSpPr>
            <p:spPr>
              <a:xfrm>
                <a:off x="457200" y="1188720"/>
                <a:ext cx="5486400" cy="118872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i="1" sz="3200">
                          <a:latin typeface="Cambria Math"/>
                        </a:rPr>
                        <m:t>𝑥=</m:t>
                      </m:r>
                      <m:f>
                        <m:fPr>
                          <m:ctrlPr>
                            <a:rPr lang="en-US" i="1" sz="320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 sz="3200">
                              <a:latin typeface="Cambria Math"/>
                            </a:rPr>
                            <m:t>−𝑏±</m:t>
                          </m:r>
                          <m:rad>
                            <m:radPr>
                              <m:degHide m:val="1"/>
                              <m:ctrlPr>
                                <a:rPr lang="en-US" i="1" sz="320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 sz="320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z="320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 sz="320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 sz="3200">
                                  <a:latin typeface="Cambria Math"/>
                                </a:rPr>
                                <m:t>−4𝑎𝑐</m:t>
                              </m:r>
                            </m:e>
                          </m:rad>
                        </m:num>
                        <m:den>
                          <m:r>
                            <a:rPr lang="en-US" i="1" sz="3200">
                              <a:latin typeface="Cambria Math"/>
                            </a:rPr>
                            <m:t>2𝑎</m:t>
                          </m:r>
                        </m:den>
                      </m:f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10" name="TextBox 10"/>
              <p:cNvSpPr txBox="1"/>
              <p:nvPr/>
            </p:nvSpPr>
            <p:spPr>
              <a:xfrm>
                <a:off x="457200" y="1188720"/>
                <a:ext cx="5486400" cy="1188720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/>
              <a:lstStyle/>
              <a:p>
                <a:r>
                  <a:rPr lang="en-US"/>
                  <a:t>FALLBACK PICTURE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1"/>
              <p:cNvSpPr txBox="1"/>
              <p:nvPr/>
            </p:nvSpPr>
            <p:spPr>
              <a:xfrm>
                <a:off x="6217920" y="1188720"/>
                <a:ext cx="5394960" cy="118872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nary>
                        <m:naryPr>
                          <m:chr m:val="∑"/>
                          <m:ctrlPr>
                            <a:rPr lang="en-US" i="1" sz="2400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i="1" sz="2400">
                              <a:latin typeface="Cambria Math"/>
                            </a:rPr>
                            <m:t>𝑘=1</m:t>
                          </m:r>
                        </m:sub>
                        <m:sup>
                          <m:r>
                            <a:rPr lang="en-US" i="1" sz="2400">
                              <a:latin typeface="Cambria Math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sz="240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 sz="2400">
                                  <a:latin typeface="Cambria Math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i="1" sz="24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 sz="24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 sz="240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 sz="2400">
                              <a:latin typeface="Cambria Math"/>
                            </a:rPr>
                            <m:t>𝑛</m:t>
                          </m:r>
                          <m:d>
                            <m:dPr>
                              <m:ctrlPr>
                                <a:rPr lang="en-US" i="1" sz="240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 sz="2400">
                                  <a:latin typeface="Cambria Math"/>
                                </a:rPr>
                                <m:t>𝑛+1</m:t>
                              </m:r>
                            </m:e>
                          </m:d>
                          <m:d>
                            <m:dPr>
                              <m:ctrlPr>
                                <a:rPr lang="en-US" i="1" sz="240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 sz="2400">
                                  <a:latin typeface="Cambria Math"/>
                                </a:rPr>
                                <m:t>2𝑛+1</m:t>
                              </m:r>
                            </m:e>
                          </m:d>
                        </m:num>
                        <m:den>
                          <m:r>
                            <a:rPr lang="en-US" i="1" sz="240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US" i="1" sz="2400">
                          <a:latin typeface="Cambria Math"/>
                        </a:rPr>
                        <m:t>,  </m:t>
                      </m:r>
                      <m:nary>
                        <m:naryPr>
                          <m:chr m:val="∫"/>
                          <m:ctrlPr>
                            <a:rPr lang="en-US" i="1" sz="2400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i="1" sz="240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i="1" sz="2400">
                              <a:latin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 sz="240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 sz="240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z="240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 sz="240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z="240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sz="240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m:rPr>
                              <m:sty m:val="p"/>
                            </m:rPr>
                            <a:rPr lang="en-US" i="1" sz="2400">
                              <a:latin typeface="Cambria Math"/>
                            </a:rPr>
                            <m:t>d</m:t>
                          </m:r>
                          <m:r>
                            <a:rPr lang="en-US" i="1" sz="2400">
                              <a:latin typeface="Cambria Math"/>
                            </a:rPr>
                            <m:t>𝑥</m:t>
                          </m:r>
                        </m:e>
                      </m:nary>
                      <m:r>
                        <a:rPr lang="en-US" i="1" sz="24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 sz="2400"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1"/>
                              <m:ctrlPr>
                                <a:rPr lang="en-US" i="1" sz="240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 sz="2400">
                                  <a:latin typeface="Cambria Math"/>
                                </a:rPr>
                                <m:t>π</m:t>
                              </m:r>
                            </m:e>
                          </m:rad>
                        </m:num>
                        <m:den>
                          <m:r>
                            <a:rPr lang="en-US" i="1" sz="240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1" name="TextBox 11"/>
              <p:cNvSpPr txBox="1"/>
              <p:nvPr/>
            </p:nvSpPr>
            <p:spPr>
              <a:xfrm>
                <a:off x="6217920" y="1188720"/>
                <a:ext cx="5394960" cy="1188720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/>
              <a:lstStyle/>
              <a:p>
                <a:r>
                  <a:rPr lang="en-US"/>
                  <a:t>FALLBACK PICTURE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2"/>
              <p:cNvSpPr txBox="1"/>
              <p:nvPr/>
            </p:nvSpPr>
            <p:spPr>
              <a:xfrm>
                <a:off x="457200" y="2651760"/>
                <a:ext cx="11155680" cy="109728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r>
                  <a:rPr lang="ja-JP" altLang="en-US" sz="2400"/>
                  <a:t>Euler's identity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z="240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sz="240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 sz="2400">
                            <a:latin typeface="Cambria Math"/>
                          </a:rPr>
                          <m:t>𝑖π</m:t>
                        </m:r>
                      </m:sup>
                    </m:sSup>
                    <m:r>
                      <a:rPr lang="en-US" i="1" sz="2400">
                        <a:latin typeface="Cambria Math"/>
                      </a:rPr>
                      <m:t>+1=0</m:t>
                    </m:r>
                  </m:oMath>
                </a14:m>
                <a:r>
                  <a:rPr lang="ja-JP" altLang="en-US" sz="2400"/>
                  <a:t> holds for every text line.</a:t>
                </a:r>
              </a:p>
              <a:p>
                <a:r>
                  <a:rPr lang="ja-JP" altLang="en-US" sz="2400"/>
                  <a:t>二次方程式の判別式は </a:t>
                </a:r>
                <a14:m>
                  <m:oMath xmlns:m="http://schemas.openxmlformats.org/officeDocument/2006/math">
                    <m:r>
                      <a:rPr lang="en-US" i="1" sz="2400">
                        <a:latin typeface="Cambria Math"/>
                      </a:rPr>
                      <m:t>𝐷=</m:t>
                    </m:r>
                    <m:sSup>
                      <m:sSupPr>
                        <m:ctrlPr>
                          <a:rPr lang="en-US" i="1" sz="240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sz="240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i="1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sz="2400">
                        <a:latin typeface="Cambria Math"/>
                      </a:rPr>
                      <m:t>−4𝑎𝑐</m:t>
                    </m:r>
                  </m:oMath>
                </a14:m>
                <a:r>
                  <a:rPr lang="ja-JP" altLang="en-US" sz="2400"/>
                  <a:t> で、行の中に置かれます。</a:t>
                </a:r>
              </a:p>
            </p:txBody>
          </p:sp>
        </mc:Choice>
        <mc:Fallback>
          <p:sp>
            <p:nvSpPr>
              <p:cNvPr id="12" name="TextBox 12"/>
              <p:cNvSpPr txBox="1"/>
              <p:nvPr/>
            </p:nvSpPr>
            <p:spPr>
              <a:xfrm>
                <a:off x="457200" y="2651760"/>
                <a:ext cx="11155680" cy="1097280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/>
              <a:lstStyle/>
              <a:p>
                <a:r>
                  <a:rPr lang="en-US"/>
                  <a:t>FALLBACK PICTURE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3"/>
              <p:cNvSpPr txBox="1"/>
              <p:nvPr/>
            </p:nvSpPr>
            <p:spPr>
              <a:xfrm>
                <a:off x="457200" y="4023360"/>
                <a:ext cx="5486400" cy="1463040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85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i="1" sz="2800">
                          <a:latin typeface="Cambria Math"/>
                          <a:solidFill>
                            <a:schemeClr val="accent2"/>
                          </a:solidFill>
                        </a:rPr>
                        <m:t>𝐴=</m:t>
                      </m:r>
                      <m:d>
                        <m:dPr>
                          <m:ctrlPr>
                            <a:rPr lang="en-US" i="1" sz="280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z="280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z="28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sz="28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sz="280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i="1" sz="280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i="1" sz="2800">
                          <a:latin typeface="Cambria Math"/>
                        </a:rPr>
                        <m:t>,  det</m:t>
                      </m:r>
                      <m:r>
                        <a:rPr lang="en-US" i="1" sz="2800">
                          <a:latin typeface="Cambria Math"/>
                        </a:rPr>
                        <m:t>𝐴=−2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13" name="TextBox 13"/>
              <p:cNvSpPr txBox="1"/>
              <p:nvPr/>
            </p:nvSpPr>
            <p:spPr>
              <a:xfrm>
                <a:off x="457200" y="4023360"/>
                <a:ext cx="5486400" cy="1463040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/>
              <a:lstStyle/>
              <a:p>
                <a:r>
                  <a:rPr lang="en-US"/>
                  <a:t>FALLBACK PICTURE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hoice"/>
              <p:cNvSpPr txBox="1"/>
              <p:nvPr/>
            </p:nvSpPr>
            <p:spPr>
              <a:xfrm>
                <a:off x="6217920" y="4023360"/>
                <a:ext cx="5394960" cy="146304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r>
                  <a:rPr lang="en-US" sz="2000"/>
                  <a:t>CHOICE WITHOUT MATH</a:t>
                </a:r>
              </a:p>
            </p:txBody>
          </p:sp>
        </mc:Choice>
        <mc:Fallback>
          <p:sp>
            <p:nvSpPr>
              <p:cNvPr id="14" name="Fallback"/>
              <p:cNvSpPr txBox="1"/>
              <p:nvPr/>
            </p:nvSpPr>
            <p:spPr>
              <a:xfrm>
                <a:off x="6217920" y="4023360"/>
                <a:ext cx="5394960" cy="146304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r>
                  <a:rPr lang="en-US" sz="2000"/>
                  <a:t>Other a14 content keeps its fallback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Equations</dc:title>
  <dc:subject/>
  <dc:creator/>
  <cp:keywords/>
  <dc:description>generated using python-pptx</dc:description>
  <cp:lastModifiedBy>Steve Canny</cp:lastModifiedBy>
  <cp:revision>1</cp:revision>
  <dcterms:created xsi:type="dcterms:W3CDTF">2026-09-27T09:00:00Z</dcterms:created>
  <dcterms:modified xsi:type="dcterms:W3CDTF">2026-09-27T09:00:00Z</dcterms:modified>
  <cp:category/>
</cp:coreProperties>
</file>